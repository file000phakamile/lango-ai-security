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3418" y="1554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8A93A1"/>
                </a:solidFill>
                <a:latin typeface="IBM Plex Mono"/>
              </a:rPr>
              <a:t>AI4I 2026 CHALLENGE — TRACK 4 (DEPLOYMENT)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18" y="205740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14171C"/>
                </a:solidFill>
                <a:latin typeface="IBM Plex Sans"/>
              </a:rPr>
              <a:t>Lango — AI Data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383280"/>
            <a:ext cx="10332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Security and governance gateway for enterprise AI use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AI4I 2026 Challenge — Track 4 (Deployment)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Team Lango: Phakamile Mlala &amp; Vanessa Moyo, NUST Bulawayo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8A93A1"/>
                </a:solidFill>
                <a:latin typeface="IBM Plex Mono"/>
              </a:rPr>
              <a:t>●  LANGO — AI DATA 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3418" y="37719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8A6323"/>
                </a:solidFill>
                <a:latin typeface="IBM Plex Mono"/>
              </a:rPr>
              <a:t>02 —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18" y="91440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171C"/>
                </a:solidFill>
                <a:latin typeface="IBM Plex Sans"/>
              </a:rPr>
              <a:t>Staff are pasting real institutional data into AI tools — with zero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148840"/>
            <a:ext cx="10332720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National IDs, bank details, and patient records routinely enter AI chat prompts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No logging, no control, no way to prove what left the institution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A live compliance and data-protection exposure today, not a hypothetical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8A93A1"/>
                </a:solidFill>
                <a:latin typeface="IBM Plex Mono"/>
              </a:rPr>
              <a:t>●  LANGO — AI DATA GUARD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3418" y="37719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8A6323"/>
                </a:solidFill>
                <a:latin typeface="IBM Plex Mono"/>
              </a:rPr>
              <a:t>03 — 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18" y="91440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171C"/>
                </a:solidFill>
                <a:latin typeface="IBM Plex Sans"/>
              </a:rPr>
              <a:t>Built for the people accountable when this goes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148840"/>
            <a:ext cx="10332720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Primary user: frontline staff whose prompts pass through the gateway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Beneficiary and payer: compliance, risk, and IT security teams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Target sectors: banks, hospitals, government ministries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8A93A1"/>
                </a:solidFill>
                <a:latin typeface="IBM Plex Mono"/>
              </a:rPr>
              <a:t>●  LANGO — AI DATA GUARD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4-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3418" y="37719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8A6323"/>
                </a:solidFill>
                <a:latin typeface="IBM Plex Mono"/>
              </a:rPr>
              <a:t>05 —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18" y="173736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4171C"/>
                </a:solidFill>
                <a:latin typeface="IBM Plex Sans"/>
              </a:rPr>
              <a:t>Switch to live demo 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09647" y="2651760"/>
            <a:ext cx="7772400" cy="1005840"/>
          </a:xfrm>
          <a:prstGeom prst="roundRect">
            <a:avLst>
              <a:gd name="adj" fmla="val 12000"/>
            </a:avLst>
          </a:prstGeom>
          <a:solidFill>
            <a:srgbClr val="F3ECE1"/>
          </a:solidFill>
          <a:ln w="19050">
            <a:solidFill>
              <a:srgbClr val="8A6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8A6323"/>
                </a:solidFill>
                <a:latin typeface="IBM Plex Mono"/>
              </a:rPr>
              <a:t>lango-app-dusky.vercel.app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97763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>
                <a:solidFill>
                  <a:srgbClr val="5B6270"/>
                </a:solidFill>
                <a:latin typeface="IBM Plex Mono"/>
              </a:rPr>
              <a:t>Walk through: Command Center → Audit Log → Fairness Audit → Drift &amp; Security → Pilot &amp; Sandbox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457200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>
                <a:solidFill>
                  <a:srgbClr val="8A93A1"/>
                </a:solidFill>
                <a:latin typeface="IBM Plex Sans"/>
              </a:rPr>
              <a:t>Live at lango-app-dusky.vercel.app — real Rust/Axum backend on Render, real PostgreSQL, not a frontend-only mockup. Presenter drives the actual app for this section, not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1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8A93A1"/>
                </a:solidFill>
                <a:latin typeface="IBM Plex Mono"/>
              </a:rPr>
              <a:t>●  LANGO — AI DATA GUARD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6-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7-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3418" y="37719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8A6323"/>
                </a:solidFill>
                <a:latin typeface="IBM Plex Mono"/>
              </a:rPr>
              <a:t>08 —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18" y="91440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171C"/>
                </a:solidFill>
                <a:latin typeface="IBM Plex Sans"/>
              </a:rPr>
              <a:t>Institution pays, staff use, compliance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148840"/>
            <a:ext cx="10332720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Customer: the institution (bank/hospital/ministry), bought at CISO/Head of Compliance level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Pilot phase: no revenue yet — proving the concept at one institution, one department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Post-pilot: per-seat/per-institution licensing, priced against the cost of a compliance incident avoided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8A93A1"/>
                </a:solidFill>
                <a:latin typeface="IBM Plex Mono"/>
              </a:rPr>
              <a:t>●  LANGO — AI DATA GUARD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3418" y="37719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8A6323"/>
                </a:solidFill>
                <a:latin typeface="IBM Plex Mono"/>
              </a:rPr>
              <a:t>09 —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18" y="91440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4171C"/>
                </a:solidFill>
                <a:latin typeface="IBM Plex Sans"/>
              </a:rPr>
              <a:t>30 / 60 / 90-day path from a real, deployed, hardened v0.1 to a validated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148840"/>
            <a:ext cx="10332720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Day 30: pilot institution and department confirmed, consent signed off, institution onboarded onto the platform (multi-tenant isolation, rate limiting, and a basic internal security pass are already built and tested — this is about onboarding a real institution onto existing infrastructure, not building that infrastructure)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Day 60: midpoint review — redaction accuracy and fairness measured on real pilot traffic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Day 90: full pilot cohort onboarded, go/no-go decision on scale-out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8A93A1"/>
                </a:solidFill>
                <a:latin typeface="IBM Plex Mono"/>
              </a:rPr>
              <a:t>●  LANGO — AI DATA GUARD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3418" y="37719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8A6323"/>
                </a:solidFill>
                <a:latin typeface="IBM Plex Mono"/>
              </a:rPr>
              <a:t>10 — TEAM +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3418" y="91440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4171C"/>
                </a:solidFill>
                <a:latin typeface="IBM Plex Sans"/>
              </a:rPr>
              <a:t>Team Lango — and what we need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148840"/>
            <a:ext cx="10332720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Phakamile Mlala (Team Leader, Electronic Engineering, NUST Bulawayo) &amp; Vanessa Moyo (Researcher, Product Design)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Built with Claude and Claude Code for drafting and implementation — reviewed by the team throughout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Ask: a real pilot institution partner — multi-tenant isolation, rate limiting, and a basic internal security pass are already built and tested, not the ask anymore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8A6323"/>
                </a:solidFill>
                <a:latin typeface="IBM Plex Sans"/>
              </a:rPr>
              <a:t>■  </a:t>
            </a:r>
            <a:r>
              <a:rPr sz="1600">
                <a:solidFill>
                  <a:srgbClr val="14171C"/>
                </a:solidFill>
                <a:latin typeface="IBM Plex Sans"/>
              </a:rPr>
              <a:t>Also need: input from a real institutional security/compliance reviewer on the shared-vs-dedicated-instance tenancy tradeoff (see docs/DEPLOYMENT_PLAN.md) — a decision worth making with an actual institutional stakeholder, not in isolation — plus support standing up a live AI provider connection and a formal penetration test ahead of real institutional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8A93A1"/>
                </a:solidFill>
                <a:latin typeface="IBM Plex Mono"/>
              </a:rPr>
              <a:t>●  LANGO — AI DATA 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